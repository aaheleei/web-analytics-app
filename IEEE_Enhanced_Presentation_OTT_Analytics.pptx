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463040"/>
            <a:ext cx="109728" cy="3840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37160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IEEE ACADEMIC PROJECT PRESENTATION</a:t>
            </a:r>
          </a:p>
          <a:p>
            <a:pPr>
              <a:spcBef>
                <a:spcPts val="1200"/>
              </a:spcBef>
              <a:defRPr sz="3000" b="1">
                <a:solidFill>
                  <a:srgbClr val="FFFFFF"/>
                </a:solidFill>
              </a:defRPr>
            </a:pPr>
            <a:r>
              <a:t>Real-Time Web &amp; Social Media Analytics Dashboard</a:t>
            </a:r>
          </a:p>
          <a:p>
            <a:pPr>
              <a:spcBef>
                <a:spcPts val="1000"/>
              </a:spcBef>
              <a:defRPr sz="1800">
                <a:solidFill>
                  <a:srgbClr val="94A3B8"/>
                </a:solidFill>
              </a:defRPr>
            </a:pPr>
            <a:r>
              <a:t>OTT Movie &amp; Show Launch Intelligence with NLTK VADER &amp; Wikimedia REST API</a:t>
            </a:r>
          </a:p>
          <a:p>
            <a:pPr>
              <a:spcBef>
                <a:spcPts val="3500"/>
              </a:spcBef>
              <a:defRPr sz="1300">
                <a:solidFill>
                  <a:srgbClr val="FFFFFF"/>
                </a:solidFill>
              </a:defRPr>
            </a:pPr>
            <a:r>
              <a:t>Author / 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IEEE ACADEMIC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1. Executive Abstract &amp; Project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71323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IEEE Publication Abstract (~200 Words)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The rapid expansion of Over-The-Top (OTT) streaming platforms has highlighted the need for real-time media intelligence during movie and series launches. Traditional market research methods rely on post-release surveys and lagged analytics, failing to capture instant public sentiment and early viral momentum.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This project presents an automated, end-to-end Real-Time Web and Social Media Analytics Dashboard for OTT launch intelligence. The proposed system integrates multi-feed web scraping via Google News RSS to extract press coverage and publisher diversity.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To overcome lexical word bias in sentiment evaluation, a title-agnostic natural language processing (NLP) preprocessor strips target show titles before deploying the NLTK VADER sentiment analyzer.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Real audience engagement is quantified by querying 30-day daily user traffic via the official Wikimedia REST API. Persistent campaign logging is managed using an embedded SQLite database to enable longitudinal cross-campaign benchmarking.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4134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2000" b="1">
                <a:solidFill>
                  <a:srgbClr val="1F77B4"/>
                </a:solidFill>
              </a:defRPr>
            </a:pPr>
            <a:r>
              <a:t>100% Real Web Data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No synthetic math or fake multipliers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651760"/>
            <a:ext cx="34134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Title-Stripped NLP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Eliminates VADER word collision bias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931920"/>
            <a:ext cx="34134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2000" b="1">
                <a:solidFill>
                  <a:srgbClr val="E11D48"/>
                </a:solidFill>
              </a:defRPr>
            </a:pPr>
            <a:r>
              <a:t>Wikimedia REST API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Actual 30-day daily reader traffic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5212080"/>
            <a:ext cx="34134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2000" b="1">
                <a:solidFill>
                  <a:srgbClr val="1E3A8A"/>
                </a:solidFill>
              </a:defRPr>
            </a:pPr>
            <a:r>
              <a:t>SQLite Storage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Cross-campaign persistent logging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IEEE ACADEMIC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2. Industry Motivation &amp; Curriculum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Industry Motivation &amp; Challenge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Streaming platforms launch hundreds of titles monthly.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Post-launch surveys introduce weeks of analytical latency.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Existing commercial tools rely on proprietary black-box algorithms and synthetic traffic multipliers.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1206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Obj 1: Web Scraping &amp; Collection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Automates Google News RSS scraping for target titles.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Extracts headline text, publication date, and news outlet.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Deduplicates titles across multiple news providers.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42255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Obj 2: Preprocessing &amp; NLP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Applies Title-Agnostic Cleaning to remove show title words.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Prevents lexical bias in titles like 'Dark' or 'Evil'.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Calculates compound polarity and neutral ratio.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5242255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Obj 3 &amp; 4: Traffic &amp; DB Reporting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Queries Wikimedia REST API for 30-day daily reader traffic.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Stores launch metrics in SQLite database ('ott_analytics.db').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 Renders interactive Plotly charts and CSV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IEEE ACADEMIC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3. Project Datasets &amp; Citation Index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Dataset 1: Google News RSS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Source: Google News RSS Feed API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Query: "{show_title}" AND (trailer OR series OR movie OR release)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Type: Real-time Live Scraped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Extracted Fields: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headline: Press story title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publisher: Media outlet name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published: Publication timestamp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link: Direct article URL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Dataset 2: Wikimedia Pageviews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Source: Wikimedia REST API v1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Endpoint: /metrics/pageviews/per-article/en.wikipedia/all-access/user/...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Type: 30-Day Daily Traffic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Extracted Fields: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date: YYYY-MM-DD timestamp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views: Daily human reader count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article: Title match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4134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Dataset 3: SQLite Database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Source: Embedded SQLite Engine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File: ott_analytics.db (Table: launches)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Type: Local Persistent Dataset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Saved Fields: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show_title (PRIMARY KEY)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article_volume (Int)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publisher_count (Int)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net_sentiment (Real)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positive_hype_pct (Real)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IEEE ACADEMIC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4. Machine Learning &amp; NLP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Primary Model: NLTK VADER Engine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Model Name: VADER (Valence Aware Dictionary and sEntiment Reasoner).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Library: nltk.sentiment.vader.SentimentIntensityAnalyzer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Model Type: Rule-based &amp; Lexicon-driven NLP model optimized for short web text and news headlines.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Output Metrics: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Compound Score: Normalized score between -1.0 (Negative) and +1.0 (Positive).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Positive Hype (Compound &gt; +0.05)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Negative Criticism (Compound &lt; -0.05)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Neutral (-0.05 &lt;= Compound &lt;= +0.05)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Custom Preprocessor &amp; Fallback Model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Custom Preprocessor: Title-Agnostic Cleaning Model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Implementation: re.compile(re.escape(show_title), re.IGNORECASE) in app/services/nlp.py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Function: Strips target show title words before scoring to prevent lexical word bias (e.g. evaluating titles like 'Dark').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Fallback Model: TextBlob Sentiment Engine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Library: textblob.TextBlob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Function: Evaluates polarity if NLTK VADER lexicon is unavailable.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IEEE ACADEMIC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5. System Architecture &amp; Modular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000" b="1">
                <a:solidFill>
                  <a:srgbClr val="E11D48"/>
                </a:solidFill>
              </a:defRPr>
            </a:pPr>
            <a:r>
              <a:t>STEP 1</a:t>
            </a:r>
          </a:p>
          <a:p>
            <a:pPr>
              <a:spcBef>
                <a:spcPts val="600"/>
              </a:spcBef>
              <a:defRPr sz="1400" b="1">
                <a:solidFill>
                  <a:srgbClr val="1E3A8A"/>
                </a:solidFill>
              </a:defRPr>
            </a:pPr>
            <a:r>
              <a:t>1. User Input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Target title string input via Streamlit Sidebar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1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000" b="1">
                <a:solidFill>
                  <a:srgbClr val="E11D48"/>
                </a:solidFill>
              </a:defRPr>
            </a:pPr>
            <a:r>
              <a:t>STEP 2</a:t>
            </a:r>
          </a:p>
          <a:p>
            <a:pPr>
              <a:spcBef>
                <a:spcPts val="600"/>
              </a:spcBef>
              <a:defRPr sz="1400" b="1">
                <a:solidFill>
                  <a:srgbClr val="1E3A8A"/>
                </a:solidFill>
              </a:defRPr>
            </a:pPr>
            <a:r>
              <a:t>2. Web Scrapers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Google News RSS &amp; Wikimedia REST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000" b="1">
                <a:solidFill>
                  <a:srgbClr val="E11D48"/>
                </a:solidFill>
              </a:defRPr>
            </a:pPr>
            <a:r>
              <a:t>STEP 3</a:t>
            </a:r>
          </a:p>
          <a:p>
            <a:pPr>
              <a:spcBef>
                <a:spcPts val="600"/>
              </a:spcBef>
              <a:defRPr sz="1400" b="1">
                <a:solidFill>
                  <a:srgbClr val="1E3A8A"/>
                </a:solidFill>
              </a:defRPr>
            </a:pPr>
            <a:r>
              <a:t>3. Title-Agnostic NLP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Regex title stripping &amp; VADER Polarity Scoring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000" b="1">
                <a:solidFill>
                  <a:srgbClr val="E11D48"/>
                </a:solidFill>
              </a:defRPr>
            </a:pPr>
            <a:r>
              <a:t>STEP 4</a:t>
            </a:r>
          </a:p>
          <a:p>
            <a:pPr>
              <a:spcBef>
                <a:spcPts val="600"/>
              </a:spcBef>
              <a:defRPr sz="1400" b="1">
                <a:solidFill>
                  <a:srgbClr val="1E3A8A"/>
                </a:solidFill>
              </a:defRPr>
            </a:pPr>
            <a:r>
              <a:t>4. SQLite Database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Persistent campaign storage ('launches' table)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645920"/>
            <a:ext cx="2011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/>
          <a:lstStyle/>
          <a:p>
            <a:pPr algn="ctr">
              <a:defRPr sz="1000" b="1">
                <a:solidFill>
                  <a:srgbClr val="E11D48"/>
                </a:solidFill>
              </a:defRPr>
            </a:pPr>
            <a:r>
              <a:t>STEP 5</a:t>
            </a:r>
          </a:p>
          <a:p>
            <a:pPr>
              <a:spcBef>
                <a:spcPts val="600"/>
              </a:spcBef>
              <a:defRPr sz="1400" b="1">
                <a:solidFill>
                  <a:srgbClr val="1E3A8A"/>
                </a:solidFill>
              </a:defRPr>
            </a:pPr>
            <a:r>
              <a:t>5. Streamlit Dashboard</a:t>
            </a:r>
          </a:p>
          <a:p>
            <a:pPr>
              <a:spcBef>
                <a:spcPts val="1200"/>
              </a:spcBef>
              <a:defRPr sz="1100">
                <a:solidFill>
                  <a:srgbClr val="1E293B"/>
                </a:solidFill>
              </a:defRPr>
            </a:pPr>
            <a:r>
              <a:t>Plotly Donut, Line &amp; Bar Charts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IEEE ACADEMIC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6. Module 1: Web Scraping &amp; Media Collection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Scraper Technical Details (app/services/scraper.py)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Function: fetch_google_news(show_title)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Query URL: https://news.google.com/rss/search?q="{show_title}"+AND+(trailer+OR+series...)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Key Engineering Features: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Uses feedparser to extract RSS XML items silently without IP rate limiting.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Parses headline text and splits publisher domain (e.g., 'Headline - Variety').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Deduplicates titles using Python set data structures to prevent duplicate news entries.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42255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2000" b="1">
                <a:solidFill>
                  <a:srgbClr val="1F77B4"/>
                </a:solidFill>
              </a:defRPr>
            </a:pPr>
            <a:r>
              <a:t>Total Articles Scraped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Measures overall media volume and press coverage density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242255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Unique Publishers Extracted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Quantifies press outlet diversity (Variety, IGN, Deadline, etc.)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IEEE ACADEMIC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7. Module 2: Text Preprocessing &amp; Bias Removal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Title-Collision Bias Problem &amp; Solution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The Challenge: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Standard VADER dictionaries contain inherently negative or positive words.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If a show is named 'Dark' or 'Evil', VADER penalizes every headline containing the title.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The Solution (Title-Agnostic Preprocessing):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Strips out the target title string using regex before VADER scoring.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Evaluates purely the reviewer's sentiment rather than the title's dictionary definition.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NLP Pipeline Execution (app/services/nlp.py)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Function: analyze_headlines_sentiment(scraped_items, show_title)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Step 1: Regex pattern re.compile(re.escape(show_title), re.IGNORECASE) strips title.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Step 2: SentimentIntensityAnalyzer computes pos, neu, neg, and compound scores.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Step 3: Categorizes compound score (&gt; +0.05 Positive, &lt; -0.05 Negative).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Step 4: Computes summary metrics (Mean Polarity, Positive Ratio 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IEEE ACADEMIC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8. Module 3: Sentiment Analysis &amp; Visualizations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Sentiment Classification &amp; Export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Tab 3 Dashboard UI (app/main.py):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Displays Net Sentiment Compound score.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Renders Positive Hype Ratio % and Negative Ratio %.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Includes an '📥 Export Sentiment Report (CSV)' button for instant data download.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Real Output Analysis: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Calculated distribution categorizes press reaction into Positive Hype, Neutral, and Negative Criticism.</a:t>
            </a:r>
          </a:p>
        </p:txBody>
      </p:sp>
      <p:pic>
        <p:nvPicPr>
          <p:cNvPr id="5" name="Picture 4" descr="sentiment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42255" cy="41125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IEEE ACADEMIC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9. Module 4: Real Web Traffic (Wikimedia API)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Wikimedia Pageviews API Integration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Endpoint: https://wikimedia.org/api/rest_v1/metrics/pageviews/per-article/...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Why Wikipedia Pageviews?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Acts as a universal benchmark for real organic audience search interest.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Zero fake multipliers or arbitrary math.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Shows actual daily human reader pageviews over the last 30 days.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Traffic Correlation: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Peaks in pageview curves match official trailer drops and launch release days.</a:t>
            </a:r>
          </a:p>
        </p:txBody>
      </p:sp>
      <p:pic>
        <p:nvPicPr>
          <p:cNvPr id="5" name="Picture 4" descr="wiki_pag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42255" cy="29640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IEEE ACADEMIC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10. Module 4: Database Reporting &amp; Benchmarking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SQLite Database &amp; Cross-Campaign Benchmarking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Database Engine: SQLite 3 (File: ott_analytics.db)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Table Schema (launches):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show_title (TEXT PRIMARY KEY)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article_volume (INTEGER)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publisher_count (INTEGER)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net_sentiment (REAL)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positive_hype_pct (REAL)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• timestamp (TEXT)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Thread-Safe Execution: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Uses INSERT OR REPLACE INTO so re-analyzing a show updates metrics dynamically.</a:t>
            </a:r>
          </a:p>
        </p:txBody>
      </p:sp>
      <p:pic>
        <p:nvPicPr>
          <p:cNvPr id="5" name="Picture 4" descr="cross_campaig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42255" cy="29537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IEEE ACADEMIC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11. Results &amp; Experimental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Key Experimental Results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1. Title Collision Fix: Experiments on titles like 'Dark' showed that Title-Stripping eliminated false-negative VADER bias.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2. Press Coverage Density: Unique publisher extraction successfully differentiated global launches (Variety, IGN) from niche shows.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3. Real Web Interest: Wikipedia 30-day pageview lines showed distinct viral traffic spikes matching trailer release 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Analytical Rigor &amp; Value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100% Verifiable Data: Replaced synthetic traffic math with true Wikimedia REST API metrics.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Cross-Campaign History: SQLite logging enables media analysts to compare new launches against historical benchmarks.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Modular Code Structure: Decoupled scraper, NLP, and database modules ensure maintainability.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IEEE ACADEMIC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12. Conclusion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Conclusion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Developed a robust, real-time OTT launch intelligence dashboard.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Combined live Google News RSS scraping with bias-free VADER NLP.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Integrated Wikimedia 30-day pageviews for 100% real web traffic metrics.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Built persistent SQLite cross-campaign benchmarking.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Future Scope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YouTube Comment API: Scrape live trailer viewer comments.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Multilingual NLP: Implement RoBERTa / mBERT for international releases.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Predictive Viewership Models: Train ML models to forecast opening weekend numbers.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20040"/>
            <a:ext cx="2926080" cy="29260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>
              <a:defRPr sz="950" b="1">
                <a:solidFill>
                  <a:srgbClr val="1F77B4"/>
                </a:solidFill>
              </a:defRPr>
            </a:pPr>
            <a:r>
              <a:t>IEEE ACADEMIC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13. References (IEEE Citation Format)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 bIns="228600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IEEE Literature Citations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[1] C. J. Hutto and E. Gilbert, 'VADER: A parsimonious rule-based model for sentiment analysis of social media text,' in Proc. 8th Int. Conf. Weblogs Social Media (ICWSM), 2014, pp. 216–225.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[2] A. Pak and P. Paroubek, 'Twitter as a corpus for sentiment analysis and opinion mining,' in Proc. Int. Conf. Lang. Resour. Eval. (LREC), 2010, pp. 1320–1326.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[3] Y. Mestyan, T. Yasseri, and J. Kertesz, 'Early prediction of movie box office success based on Wikipedia activity,' PLoS ONE, vol. 8, no. 8, p. e71226, 2013.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[4] J. Bollen, H. Mao, and X. Zeng, 'Twitter mood predicts the stock market,' J. Comput. Sci., vol. 2, no. 1, pp. 1–8, 2011.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