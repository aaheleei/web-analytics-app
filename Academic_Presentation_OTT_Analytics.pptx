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helee Dutta" userId="ecf8f06e45c84d98" providerId="LiveId" clId="{0268EC9E-CFB8-4FB8-953F-E2EF5C73061C}"/>
    <pc:docChg chg="modSld">
      <pc:chgData name="Aahelee Dutta" userId="ecf8f06e45c84d98" providerId="LiveId" clId="{0268EC9E-CFB8-4FB8-953F-E2EF5C73061C}" dt="2026-10-06T18:09:22.489" v="0" actId="1076"/>
      <pc:docMkLst>
        <pc:docMk/>
      </pc:docMkLst>
      <pc:sldChg chg="modSp mod">
        <pc:chgData name="Aahelee Dutta" userId="ecf8f06e45c84d98" providerId="LiveId" clId="{0268EC9E-CFB8-4FB8-953F-E2EF5C73061C}" dt="2026-10-06T18:09:22.489" v="0" actId="1076"/>
        <pc:sldMkLst>
          <pc:docMk/>
          <pc:sldMk cId="0" sldId="260"/>
        </pc:sldMkLst>
        <pc:spChg chg="mod">
          <ac:chgData name="Aahelee Dutta" userId="ecf8f06e45c84d98" providerId="LiveId" clId="{0268EC9E-CFB8-4FB8-953F-E2EF5C73061C}" dt="2026-10-06T18:09:22.489" v="0" actId="1076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Arial"/>
              </a:defRPr>
            </a:pPr>
            <a:r>
              <a:t>ACADEMIC RESEARCH PRESENTATION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Web &amp; Social Media Analytics Dashboard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An Automated Launch Intelligence Framework for OTT Media via RSS News Scraping, Title-Agnostic VADER Sentiment Analysis, and Wikimedia Traffic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103628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Authors &amp; Project Investigators: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Aahelee Dutta  (Reg No: 245816290)     |     Dhruv Raj  (Reg No: 245816270)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1. Executive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Research Abstract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</a:t>
            </a:r>
            <a:r>
              <a:rPr b="0">
                <a:solidFill>
                  <a:srgbClr val="1F2937"/>
                </a:solidFill>
              </a:rPr>
              <a:t>The rapid expansion of Over-The-Top (OTT) streaming platforms has highlighted the need for real-time media intelligence during movie and series launches. Traditional market research methods rely on post-release surveys and lagged analytics, failing to capture instant public sentiment and early viral momentum.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</a:t>
            </a:r>
            <a:r>
              <a:rPr b="0">
                <a:solidFill>
                  <a:srgbClr val="1F2937"/>
                </a:solidFill>
              </a:rPr>
              <a:t>This paper presents an automated, end-to-end Real-Time Web and Social Media Analytics Dashboard for OTT launch intelligence. The proposed system integrates multi-feed web scraping via Google News RSS to extract press coverage and publisher diversity.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</a:t>
            </a:r>
            <a:r>
              <a:rPr b="0">
                <a:solidFill>
                  <a:srgbClr val="1F2937"/>
                </a:solidFill>
              </a:rPr>
              <a:t>To overcome lexical word bias in sentiment evaluation, a title-agnostic natural language processing (NLP) preprocessor strips target show titles before deploying the NLTK VADER sentiment analyzer.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</a:t>
            </a:r>
            <a:r>
              <a:rPr b="0">
                <a:solidFill>
                  <a:srgbClr val="1F2937"/>
                </a:solidFill>
              </a:rPr>
              <a:t>Real audience engagement is quantified by querying 30-day daily user traffic via the official Wikimedia REST API. Persistent campaign logging is managed using an embedded SQLite database to enable longitudinal cross-campaign benchmarking.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188720"/>
            <a:ext cx="359633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Key Technical Contributions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Zero-Multiplier Real Data: </a:t>
            </a:r>
            <a:r>
              <a:rPr b="0">
                <a:solidFill>
                  <a:srgbClr val="1F2937"/>
                </a:solidFill>
              </a:rPr>
              <a:t>Eliminates synthetic multipliers, relying exclusively on live web feeds and REST APIs.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Title-Agnostic Preprocessing: </a:t>
            </a:r>
            <a:r>
              <a:rPr b="0">
                <a:solidFill>
                  <a:srgbClr val="1F2937"/>
                </a:solidFill>
              </a:rPr>
              <a:t>Mitigates VADER word-collision bias on show titles containing inherently negative words.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Multi-Feed Press Scraping: </a:t>
            </a:r>
            <a:r>
              <a:rPr b="0">
                <a:solidFill>
                  <a:srgbClr val="1F2937"/>
                </a:solidFill>
              </a:rPr>
              <a:t>Fetches live Google News RSS entries and extracts unique publisher domains.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Audience Traffic API: </a:t>
            </a:r>
            <a:r>
              <a:rPr b="0">
                <a:solidFill>
                  <a:srgbClr val="1F2937"/>
                </a:solidFill>
              </a:rPr>
              <a:t>Integrates 30-day daily Wikipedia reader pageviews for organic reach evaluation.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Relational Persistence: </a:t>
            </a:r>
            <a:r>
              <a:rPr b="0">
                <a:solidFill>
                  <a:srgbClr val="1F2937"/>
                </a:solidFill>
              </a:rPr>
              <a:t>Stores historical metrics in SQLite for longitudinal campaign benchmarking.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2. Domain Context &amp; 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Domain Context &amp; Industry Need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OTT Market Proliferation: </a:t>
            </a:r>
            <a:r>
              <a:rPr b="0">
                <a:solidFill>
                  <a:srgbClr val="1F2937"/>
                </a:solidFill>
              </a:rPr>
              <a:t>Streaming platforms release dozens of original titles simultaneously, shortening marketing evaluation windows.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High Latency of Traditional Surveying: </a:t>
            </a:r>
            <a:r>
              <a:rPr b="0">
                <a:solidFill>
                  <a:srgbClr val="1F2937"/>
                </a:solidFill>
              </a:rPr>
              <a:t>Conventional post-release surveys require weeks, missing crucial opening-week marketing pivot windows.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Digital Media as Early Proxies: </a:t>
            </a:r>
            <a:r>
              <a:rPr b="0">
                <a:solidFill>
                  <a:srgbClr val="1F2937"/>
                </a:solidFill>
              </a:rPr>
              <a:t>Online news coverage, press reviews, and reference search spikes serve as accurate early proxy indicators for viewer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24225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Limitations of Existing Analytical Tools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Black-Box Metrics: </a:t>
            </a:r>
            <a:r>
              <a:rPr b="0">
                <a:solidFill>
                  <a:srgbClr val="1F2937"/>
                </a:solidFill>
              </a:rPr>
              <a:t>Commercial media monitoring suites obscure calculations behind non-transparent algorithms.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Synthetic Traffic Multipliers: </a:t>
            </a:r>
            <a:r>
              <a:rPr b="0">
                <a:solidFill>
                  <a:srgbClr val="1F2937"/>
                </a:solidFill>
              </a:rPr>
              <a:t>Many dashboards apply arbitrary numerical multipliers (e.g. multiplying scraper counts by 1,000) to project fake traffic.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Lexical Word Bias: </a:t>
            </a:r>
            <a:r>
              <a:rPr b="0">
                <a:solidFill>
                  <a:srgbClr val="1F2937"/>
                </a:solidFill>
              </a:rPr>
              <a:t>Standard NLP sentiment tools misclassify media coverage when show titles contain negative lexical terms (e.g., 'Dark', 'Evil').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3. Literature Review &amp;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75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 &amp; Author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Tool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Domain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 &amp; Relevance to Project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Hutto &amp; Gilbert (2014)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Rule-based Lexicon (VADER)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Web &amp; Social 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Proved rule-based sentiment models outperform complex ML classifiers on short news snippets.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Mestyan et al. (2013)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Wikipedia Pageview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Box Office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Validated that Wikipedia traffic spikes strongly correlate with early movie box office success.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Pak &amp; Paroubek (2010)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RSS &amp; Twitter Mining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Digital News Sentiment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Identified textual noise and title bias as major failure points in automated sentiment pipelines.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Bollen et al. (2011)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Public Mood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Consumer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Established that aggregated digital sentiment serves as a reliable lead indicator for audience adoption.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4.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Problem Statement &amp; Identified Research Gap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Research Problem: </a:t>
            </a:r>
            <a:r>
              <a:rPr b="0">
                <a:solidFill>
                  <a:srgbClr val="1F2937"/>
                </a:solidFill>
              </a:rPr>
              <a:t>Automated sentiment analysis engines suffer from Title-Collision Lexical Bias: when evaluating show titles containing inherently negative words (e.g., 'Dark', 'Evil', 'Bad'), VADER misinterprets the title tokens as negative sentiment.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System Objective: </a:t>
            </a:r>
            <a:r>
              <a:rPr b="0">
                <a:solidFill>
                  <a:srgbClr val="1F2937"/>
                </a:solidFill>
              </a:rPr>
              <a:t>Design a transparent, title-agnostic analytics framework that pairs live RSS press scraping with verified 30-day Wikimedia traffic data without synthetic multipliers.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5120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Objective 1 &amp; 2: Scraping &amp; NLP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Obj 1: Automated Press Scraping: </a:t>
            </a:r>
            <a:r>
              <a:rPr b="0">
                <a:solidFill>
                  <a:srgbClr val="1F2937"/>
                </a:solidFill>
              </a:rPr>
              <a:t>Develop a multi-feed Google News RSS scraper to extract headlines, timestamps, and publisher domains.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Obj 2: Title-Agnostic Cleaning: </a:t>
            </a:r>
            <a:r>
              <a:rPr b="0">
                <a:solidFill>
                  <a:srgbClr val="1F2937"/>
                </a:solidFill>
              </a:rPr>
              <a:t>Implement regex preprocessing to strip target show title words before VADER sentiment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00400"/>
            <a:ext cx="5242255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Objective 3 &amp; 4: Traffic &amp; Persistence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Obj 3: Real Web Traffic API: </a:t>
            </a:r>
            <a:r>
              <a:rPr b="0">
                <a:solidFill>
                  <a:srgbClr val="1F2937"/>
                </a:solidFill>
              </a:rPr>
              <a:t>Integrate Wikimedia REST API to fetch 30-day daily reader pageviews for organic reach tracking.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Obj 4: Relational DB &amp; UI: </a:t>
            </a:r>
            <a:r>
              <a:rPr b="0">
                <a:solidFill>
                  <a:srgbClr val="1F2937"/>
                </a:solidFill>
              </a:rPr>
              <a:t>Build an SQLite database ('ott_analytics.db') for cross-campaign benchmarking and interactive Plotly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5. Project Datasets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Source / Provider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Access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Primary Schema / Attributes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Analytical Utility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Google News Press Dataset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Google News RSS Feed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Live Feed Scraping (feedparser)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headline (Str), publisher (Str), published (Timestamp), link (URL)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Press coverage volume &amp; publisher diversity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Wikimedia Pageviews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Wikimedia REST API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HTTP GET REST Request (requests)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date (YYYY-MM-DD), views (Int), article (Str)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Organic 30-day reader traffic &amp; viral spike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Launch History Database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Embedded SQLite Engine (ott_analytics.db)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SQL Queries (sqlite3)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show_title (PK), article_volume (Int), net_sentiment (Real), timestamp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Persistent cross-campaign historical benchmarking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6. Machine Learning &amp; NLP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Model Component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Library / Algorithm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/ Operational Logic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Primary 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Primary Sentiment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NLTK VADER (SentimentIntensityAnalyzer)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Calculates compound score S ∈ [-1.0, +1.0]. Positive (S &gt; +0.05), Negative (S &lt; -0.05), Neutral otherwise.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Quantifies press headline polarity and hype ratios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Preprocessing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Title-Agnostic Regex Model (re.compile)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Executes re.sub() regex replacement to strip show title tokens prior to VADER scoring.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Eliminates lexical word bias on show title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937"/>
                          </a:solidFill>
                        </a:defRPr>
                      </a:pPr>
                      <a:r>
                        <a:t>Fallback Sentiment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TextBlob Polarity Analyzer (textblob.TextBlob)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Evaluates polarity score based on pattern matching lexicon rules when VADER is offline.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Provides system redundancy for sentiment 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7. System Architecture &amp;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STAGE 1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1. Query Ingestion</a:t>
            </a:r>
          </a:p>
          <a:p>
            <a:pPr>
              <a:spcBef>
                <a:spcPts val="1200"/>
              </a:spcBef>
              <a:defRPr sz="1050">
                <a:solidFill>
                  <a:srgbClr val="1F2937"/>
                </a:solidFill>
              </a:defRPr>
            </a:pPr>
            <a:r>
              <a:t>User enters show title in Streamlit sidebar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1" y="1645920"/>
            <a:ext cx="20116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STAGE 2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2. Data Scraping</a:t>
            </a:r>
          </a:p>
          <a:p>
            <a:pPr>
              <a:spcBef>
                <a:spcPts val="1200"/>
              </a:spcBef>
              <a:defRPr sz="1050">
                <a:solidFill>
                  <a:srgbClr val="1F2937"/>
                </a:solidFill>
              </a:defRPr>
            </a:pPr>
            <a:r>
              <a:t>Google News RSS feeds &amp; Wikimedia REST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4064" y="1645920"/>
            <a:ext cx="20116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STAGE 3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3. Preprocessing</a:t>
            </a:r>
          </a:p>
          <a:p>
            <a:pPr>
              <a:spcBef>
                <a:spcPts val="1200"/>
              </a:spcBef>
              <a:defRPr sz="1050">
                <a:solidFill>
                  <a:srgbClr val="1F2937"/>
                </a:solidFill>
              </a:defRPr>
            </a:pPr>
            <a:r>
              <a:t>Title-Agnostic regex title token stripping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0336" y="1645920"/>
            <a:ext cx="20116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STAGE 4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4. Sentiment NLP</a:t>
            </a:r>
          </a:p>
          <a:p>
            <a:pPr>
              <a:spcBef>
                <a:spcPts val="1200"/>
              </a:spcBef>
              <a:defRPr sz="1050">
                <a:solidFill>
                  <a:srgbClr val="1F2937"/>
                </a:solidFill>
              </a:defRPr>
            </a:pPr>
            <a:r>
              <a:t>NLTK VADER compound polarity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36608" y="1645920"/>
            <a:ext cx="20116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STAGE 5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5. Persistence &amp; UI</a:t>
            </a:r>
          </a:p>
          <a:p>
            <a:pPr>
              <a:spcBef>
                <a:spcPts val="1200"/>
              </a:spcBef>
              <a:defRPr sz="1050">
                <a:solidFill>
                  <a:srgbClr val="1F2937"/>
                </a:solidFill>
              </a:defRPr>
            </a:pPr>
            <a:r>
              <a:t>SQLite logging &amp; Plotly chart rendering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8. Module 1: Web Scraping &amp;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Scraper Engineering (app/services/scraper.py)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RSS Feed Parsing: </a:t>
            </a:r>
            <a:r>
              <a:rPr b="0">
                <a:solidFill>
                  <a:srgbClr val="1F2937"/>
                </a:solidFill>
              </a:rPr>
              <a:t>Uses feedparser to extract Google News RSS entries silently without IP blocking.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Targeted Search Query: </a:t>
            </a:r>
            <a:r>
              <a:rPr b="0">
                <a:solidFill>
                  <a:srgbClr val="1F2937"/>
                </a:solidFill>
              </a:rPr>
              <a:t>Constructs query: "{show_title}" AND (trailer OR series OR movie OR release).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Publisher Domain Extraction: </a:t>
            </a:r>
            <a:r>
              <a:rPr b="0">
                <a:solidFill>
                  <a:srgbClr val="1F2937"/>
                </a:solidFill>
              </a:rPr>
              <a:t>Parses headline text strings to isolate news outlet names (e.g., 'Variety', 'IGN').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Duplicate Filtering: </a:t>
            </a:r>
            <a:r>
              <a:rPr b="0">
                <a:solidFill>
                  <a:srgbClr val="1F2937"/>
                </a:solidFill>
              </a:rPr>
              <a:t>Maintains Python set data structures to eliminate duplicate article titles across feeds.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24225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Scraper Deliverables &amp; Metrics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Scraped Press Payload: </a:t>
            </a:r>
            <a:r>
              <a:rPr b="0">
                <a:solidFill>
                  <a:srgbClr val="1F2937"/>
                </a:solidFill>
              </a:rPr>
              <a:t>Outputs structured list of objects containing headline, publisher, timestamp, and URL.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Total Article Volume: </a:t>
            </a:r>
            <a:r>
              <a:rPr b="0">
                <a:solidFill>
                  <a:srgbClr val="1F2937"/>
                </a:solidFill>
              </a:rPr>
              <a:t>Measures overall press coverage density and media interest during launch windows.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Unique Publisher Count: </a:t>
            </a:r>
            <a:r>
              <a:rPr b="0">
                <a:solidFill>
                  <a:srgbClr val="1F2937"/>
                </a:solidFill>
              </a:rPr>
              <a:t>Quantifies media diversity, tracking how many distinct news outlets cover the title.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9. Modules 2 &amp; 3: Title Cleanup &amp; Sentiment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Title-Collision Cleanup &amp; NLP Execution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The Title-Bias Problem: </a:t>
            </a:r>
            <a:r>
              <a:rPr b="0">
                <a:solidFill>
                  <a:srgbClr val="1F2937"/>
                </a:solidFill>
              </a:rPr>
              <a:t>Titles like 'Dark' or 'Evil' skew standard VADER scores negatively due to lexical word dictionary matches.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Title-Agnostic Solution: </a:t>
            </a:r>
            <a:r>
              <a:rPr b="0">
                <a:solidFill>
                  <a:srgbClr val="1F2937"/>
                </a:solidFill>
              </a:rPr>
              <a:t>Executes regex substitution: re.compile(re.escape(show_title), re.IGNORECASE).sub('', headline)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VADER Polarity Thresholds: </a:t>
            </a:r>
            <a:r>
              <a:rPr b="0">
                <a:solidFill>
                  <a:srgbClr val="1F2937"/>
                </a:solidFill>
              </a:rPr>
              <a:t>Classifies compound score S: Positive (S &gt; +0.05), Negative (S &lt; -0.05), Neutral otherwise.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CSV Data Export: </a:t>
            </a:r>
            <a:r>
              <a:rPr b="0">
                <a:solidFill>
                  <a:srgbClr val="1F2937"/>
                </a:solidFill>
              </a:rPr>
              <a:t>Provides an 'Export Sentiment Report (CSV)' feature for offline research.</a:t>
            </a:r>
          </a:p>
        </p:txBody>
      </p:sp>
      <p:pic>
        <p:nvPicPr>
          <p:cNvPr id="6" name="Picture 5" descr="sentimen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42255" cy="4112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B5563"/>
                </a:solidFill>
              </a:defRPr>
            </a:pPr>
            <a:r>
              <a:t>Figure 1: VADER Sentiment Polarity Distribution for Target Media 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10. Module 4: Real Web Audience Traffic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Wikimedia Pageviews REST API Integration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REST Endpoint: </a:t>
            </a:r>
            <a:r>
              <a:rPr b="0">
                <a:solidFill>
                  <a:srgbClr val="1F2937"/>
                </a:solidFill>
              </a:rPr>
              <a:t>/metrics/pageviews/per-article/en.wikipedia/all-access/user/.../daily/...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30-Day Time-Series: </a:t>
            </a:r>
            <a:r>
              <a:rPr b="0">
                <a:solidFill>
                  <a:srgbClr val="1F2937"/>
                </a:solidFill>
              </a:rPr>
              <a:t>Queries actual daily visitor pageview counts over the preceding 30 days.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Zero-Multiplier Accuracy: </a:t>
            </a:r>
            <a:r>
              <a:rPr b="0">
                <a:solidFill>
                  <a:srgbClr val="1F2937"/>
                </a:solidFill>
              </a:rPr>
              <a:t>Provides verifiable audience traffic data without arbitrary mathematical multipliers.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Launch Spike Correlation: </a:t>
            </a:r>
            <a:r>
              <a:rPr b="0">
                <a:solidFill>
                  <a:srgbClr val="1F2937"/>
                </a:solidFill>
              </a:rPr>
              <a:t>Pageview peak spikes directly align with official trailer drops and release dates.</a:t>
            </a:r>
          </a:p>
        </p:txBody>
      </p:sp>
      <p:pic>
        <p:nvPicPr>
          <p:cNvPr id="6" name="Picture 5" descr="wiki_pag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42255" cy="29640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B5563"/>
                </a:solidFill>
              </a:defRPr>
            </a:pPr>
            <a:r>
              <a:t>Figure 2: 30-Day Daily Wikipedia Reader Pageviews Time-Series (Wikimedia API)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11. Module 4 (Cont.): SQLite Persistence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Relational Database Schema (app/database/db.py)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SQLite Database File: </a:t>
            </a:r>
            <a:r>
              <a:rPr b="0">
                <a:solidFill>
                  <a:srgbClr val="1F2937"/>
                </a:solidFill>
              </a:rPr>
              <a:t>ott_analytics.db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Table Structure: </a:t>
            </a:r>
            <a:r>
              <a:rPr b="0">
                <a:solidFill>
                  <a:srgbClr val="1F2937"/>
                </a:solidFill>
              </a:rPr>
              <a:t>launches (show_title PRIMARY KEY, article_volume, publisher_count, net_sentiment, positive_hype_pct, timestamp)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Upsert Logic: </a:t>
            </a:r>
            <a:r>
              <a:rPr b="0">
                <a:solidFill>
                  <a:srgbClr val="1F2937"/>
                </a:solidFill>
              </a:rPr>
              <a:t>Executes INSERT OR REPLACE INTO queries to handle dynamic updates upon re-analysis.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Thread Safety: </a:t>
            </a:r>
            <a:r>
              <a:rPr b="0">
                <a:solidFill>
                  <a:srgbClr val="1F2937"/>
                </a:solidFill>
              </a:rPr>
              <a:t>Connects via sqlite3.connect(check_same_thread=False) for Streamlit runtime safety.</a:t>
            </a:r>
          </a:p>
        </p:txBody>
      </p:sp>
      <p:pic>
        <p:nvPicPr>
          <p:cNvPr id="6" name="Picture 5" descr="cross_campaig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42255" cy="2953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760720"/>
            <a:ext cx="5242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B5563"/>
                </a:solidFill>
              </a:defRPr>
            </a:pPr>
            <a:r>
              <a:t>Figure 3: Historical Net Sentiment Compound Score Comparison across Saved Campaigns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12. Experimental 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Experimental Validation Results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Title Bias Mitigation: </a:t>
            </a:r>
            <a:r>
              <a:rPr b="0">
                <a:solidFill>
                  <a:srgbClr val="1F2937"/>
                </a:solidFill>
              </a:rPr>
              <a:t>Experimental trials on titles like 'Dark' confirmed that Title-Stripping eliminated false-negative VADER bias.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Press Diversity Capture: </a:t>
            </a:r>
            <a:r>
              <a:rPr b="0">
                <a:solidFill>
                  <a:srgbClr val="1F2937"/>
                </a:solidFill>
              </a:rPr>
              <a:t>Publisher extraction accurately separated widespread media coverage (Variety, IGN) from targeted coverage.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Traffic Validation: </a:t>
            </a:r>
            <a:r>
              <a:rPr b="0">
                <a:solidFill>
                  <a:srgbClr val="1F2937"/>
                </a:solidFill>
              </a:rPr>
              <a:t>Wikimedia 30-day time-series graphs accurately mirrored viral spikes during launch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24225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System Rigor &amp; Operational Value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Transparent Analytics: </a:t>
            </a:r>
            <a:r>
              <a:rPr b="0">
                <a:solidFill>
                  <a:srgbClr val="1F2937"/>
                </a:solidFill>
              </a:rPr>
              <a:t>Replaced commercial black-box scoring with open, reproducible VADER NLP logic.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Longitudinal Benchmarking: </a:t>
            </a:r>
            <a:r>
              <a:rPr b="0">
                <a:solidFill>
                  <a:srgbClr val="1F2937"/>
                </a:solidFill>
              </a:rPr>
              <a:t>SQLite persistence allows media analysts to compare new title performance against historic campaigns.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Modular Architecture: </a:t>
            </a:r>
            <a:r>
              <a:rPr b="0">
                <a:solidFill>
                  <a:srgbClr val="1F2937"/>
                </a:solidFill>
              </a:rPr>
              <a:t>Decoupled scraper, NLP engine, and DB modules ensure robust system maintainability.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13. Conclusion &amp; 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System Achievement: </a:t>
            </a:r>
            <a:r>
              <a:rPr b="0">
                <a:solidFill>
                  <a:srgbClr val="1F2937"/>
                </a:solidFill>
              </a:rPr>
              <a:t>Successfully developed a real-time launch intelligence portal combining RSS news scraping, bias-free VADER NLP, and Wikimedia web analytics.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Verification Integrity: </a:t>
            </a:r>
            <a:r>
              <a:rPr b="0">
                <a:solidFill>
                  <a:srgbClr val="1F2937"/>
                </a:solidFill>
              </a:rPr>
              <a:t>Eliminated synthetic multipliers, providing 100% verifiable web traffic data.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Academic Utility: </a:t>
            </a:r>
            <a:r>
              <a:rPr b="0">
                <a:solidFill>
                  <a:srgbClr val="1F2937"/>
                </a:solidFill>
              </a:rPr>
              <a:t>Demonstrated that combining headline sentiment with reference pageview trends yields strong early reception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24225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Future Research Roadmap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YouTube Trailer API: </a:t>
            </a:r>
            <a:r>
              <a:rPr b="0">
                <a:solidFill>
                  <a:srgbClr val="1F2937"/>
                </a:solidFill>
              </a:rPr>
              <a:t>Extend scraping to YouTube video comments and like/dislike ratios.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Multilingual NLP Models: </a:t>
            </a:r>
            <a:r>
              <a:rPr b="0">
                <a:solidFill>
                  <a:srgbClr val="1F2937"/>
                </a:solidFill>
              </a:rPr>
              <a:t>Deploy fine-tuned Transformer models (RoBERTa, mBERT) for multi-language press coverage.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Predictive Box-Office ML: </a:t>
            </a:r>
            <a:r>
              <a:rPr b="0">
                <a:solidFill>
                  <a:srgbClr val="1F2937"/>
                </a:solidFill>
              </a:rPr>
              <a:t>Develop supervised machine learning models to forecast opening-weekend viewership.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14. Academic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B5563"/>
                </a:solidFill>
                <a:latin typeface="Arial"/>
              </a:defRPr>
            </a:pPr>
            <a:r>
              <a:t>Real-Time Web &amp; Social Media Analytics Dashboard  |  Aahelee Dutta &amp; Dhruv Raj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Selected Bibliography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[1]: </a:t>
            </a:r>
            <a:r>
              <a:rPr b="0">
                <a:solidFill>
                  <a:srgbClr val="1F2937"/>
                </a:solidFill>
              </a:rPr>
              <a:t>C. J. Hutto and E. Gilbert, 'VADER: A parsimonious rule-based model for sentiment analysis of social media text,' in Proc. 8th Int. Conf. Weblogs Social Media (ICWSM), 2014, pp. 216–225.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[2]: </a:t>
            </a:r>
            <a:r>
              <a:rPr b="0">
                <a:solidFill>
                  <a:srgbClr val="1F2937"/>
                </a:solidFill>
              </a:rPr>
              <a:t>A. Pak and P. Paroubek, 'Twitter as a corpus for sentiment analysis and opinion mining,' in Proc. Int. Conf. Lang. Resour. Eval. (LREC), 2010, pp. 1320–1326.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[3]: </a:t>
            </a:r>
            <a:r>
              <a:rPr b="0">
                <a:solidFill>
                  <a:srgbClr val="1F2937"/>
                </a:solidFill>
              </a:rPr>
              <a:t>Y. Mestyan, T. Yasseri, and J. Kertesz, 'Early prediction of movie box office success based on Wikipedia activity,' PLoS ONE, vol. 8, no. 8, p. e71226, 2013.</a:t>
            </a:r>
          </a:p>
          <a:p>
            <a:pPr>
              <a:spcBef>
                <a:spcPts val="600"/>
              </a:spcBef>
              <a:defRPr sz="1100">
                <a:latin typeface="Arial"/>
              </a:defRPr>
            </a:pPr>
            <a:r>
              <a:rPr b="1">
                <a:solidFill>
                  <a:srgbClr val="1F2937"/>
                </a:solidFill>
              </a:rPr>
              <a:t>•  [4]: </a:t>
            </a:r>
            <a:r>
              <a:rPr b="0">
                <a:solidFill>
                  <a:srgbClr val="1F2937"/>
                </a:solidFill>
              </a:rPr>
              <a:t>J. Bollen, H. Mao, and X. Zeng, 'Twitter mood predicts the stock market,' J. Comput. Sci., vol. 2, no. 1, pp. 1–8,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2227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Aahelee Dutta</cp:lastModifiedBy>
  <cp:revision>1</cp:revision>
  <dcterms:created xsi:type="dcterms:W3CDTF">2013-01-27T09:14:16Z</dcterms:created>
  <dcterms:modified xsi:type="dcterms:W3CDTF">2026-10-06T18:09:33Z</dcterms:modified>
  <cp:category/>
</cp:coreProperties>
</file>